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45720" cy="6858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800">
                <a:solidFill>
                  <a:srgbClr val="FFFFFF"/>
                </a:solidFill>
                <a:latin typeface="Calibri"/>
              </a:rPr>
              <a:t>Comparing Prompt Injection
Robustness Across Pre-Trained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461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F39C12"/>
                </a:solidFill>
                <a:latin typeface="Calibri"/>
              </a:rPr>
              <a:t>CS495 Capstone Research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CCD1D9"/>
                </a:solidFill>
                <a:latin typeface="Calibri"/>
              </a:rPr>
              <a:t>Kelan Huang  |  Bellevue College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846320"/>
            <a:ext cx="10698480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983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CCD1D9"/>
                </a:solidFill>
                <a:latin typeface="Calibri"/>
              </a:rPr>
              <a:t>Llama 3.1 8B  ·  GPT-5.5  ·  Gemini 3 Flash  ·  Qwen 3.6 35B  ·  DeepSeek V4 Pro  ·  Claude Sonnet 4.6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CCD1D9"/>
                </a:solidFill>
                <a:latin typeface="Calibri"/>
              </a:rPr>
              <a:t>Kelan Huang  ·  CS495 Capstone  ·  Bellevue College  ·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CCD1D9"/>
                </a:solidFill>
                <a:latin typeface="Calibri"/>
              </a:rPr>
              <a:t>Why does prompt injection matter?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CCD1D9"/>
                </a:solidFill>
                <a:latin typeface="Calibri"/>
              </a:rPr>
              <a:t>Kelan Huang  ·  CS495 Capstone  ·  Bellevue College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F39C12"/>
                </a:solidFill>
                <a:latin typeface="Calibri"/>
              </a:rPr>
              <a:t>Security Context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Prompt injection = top threat to LLM-powered apps (OWASP 2024)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Commercial models: 80–100% ASR in targeted scenarios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Orgs deploying smaller, self-hosted models lack robustness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623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F39C12"/>
                </a:solidFill>
                <a:latin typeface="Calibri"/>
              </a:rPr>
              <a:t>Research Questions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Which models are most/least vulnerable to baseline attacks?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Does switching attack language (Mandarin/Swahili/Welsh) raise ASR?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Can an adversarial LLM auto-generate effective attacks?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4937760"/>
            <a:ext cx="11521440" cy="141732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9834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2980B9"/>
                </a:solidFill>
                <a:latin typeface="Calibri"/>
              </a:rPr>
              <a:t>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3035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FFFFF"/>
                </a:solidFill>
                <a:latin typeface="Calibri"/>
              </a:rPr>
              <a:t>6 LLMs  ·  10 attack techniques  ·  2 agent domains (Cooking, Health)  ·  4 languages (English, Mandarin, Swahili, Welsh)  ·  Runs on consumer gaming GPU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CCD1D9"/>
                </a:solidFill>
                <a:latin typeface="Calibri"/>
              </a:rPr>
              <a:t>What has prior research found?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CCD1D9"/>
                </a:solidFill>
                <a:latin typeface="Calibri"/>
              </a:rPr>
              <a:t>Kelan Huang  ·  CS495 Capstone  ·  Bellevue College  ·  Spring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566160" cy="3474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07008"/>
            <a:ext cx="3346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  <a:latin typeface="Calibri"/>
              </a:rPr>
              <a:t>Attack Taxonomy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5448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• Prompt hijacking — subvert model intent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• Prompt extraction — leak system instructions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• HackAPrompt &amp; Tensor Trust: 700K+ adversarial examples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• Reasoning models more robust overall, but vulnerable to logic attacks (TAP)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188720"/>
            <a:ext cx="3566160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7" y="1207008"/>
            <a:ext cx="3346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  <a:latin typeface="Calibri"/>
              </a:rPr>
              <a:t>Attack Vectors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155448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• Obfuscation: Base64, ROT13 encoding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• Distraction &amp; fake completion injections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• Tool hijacking in agentic pipelines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• Social engineering (authority, roleplay)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188720"/>
            <a:ext cx="356616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7" y="1207008"/>
            <a:ext cx="3346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  <a:latin typeface="Calibri"/>
              </a:rPr>
              <a:t>Defence &amp; Risks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155448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• StruQ (structured queries) &amp; SecAlign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• Attention tracking detects distraction layers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• Medical LLM attacks: 94.4% unsafe recommendation rate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• Non-English safety gaps; overdefence trade-off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CCD1D9"/>
                </a:solidFill>
                <a:latin typeface="Calibri"/>
              </a:rPr>
              <a:t>Experimental design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CCD1D9"/>
                </a:solidFill>
                <a:latin typeface="Calibri"/>
              </a:rPr>
              <a:t>Kelan Huang  ·  CS495 Capstone  ·  Bellevue College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2980B9"/>
                </a:solidFill>
                <a:latin typeface="Calibri"/>
              </a:rPr>
              <a:t>Models &amp; Domains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Claude Sonnet 4.6  (commercial)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GPT-5.5  (commercial)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Gemini 3 Flash  (commercial)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Llama 3.1 8B  (open-source)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Qwen 3.6 35B A3B MTP  (open-source)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DeepSeek V4 Pro  (open-source)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Domains: Cooking Assistant ·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5989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F39C12"/>
                </a:solidFill>
                <a:latin typeface="Calibri"/>
              </a:rPr>
              <a:t>Experimental Phases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• Phase I — 5 baseline attacks × 2 domains × 5 reps</a:t>
            </a:r>
          </a:p>
          <a:p>
            <a:pPr algn="l"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    •   Naive · Roleplay/DAN · Fake Completion · Extraction · Base64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• Phase IIB — Top-3 attacks in Mandarin, Swahili, Welsh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• Phase IIC — Llama 3.1 8B generates payloads vs Claude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• Phase III — Qwen family: 9B vs 27B vs 35B comparison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• Metric: ASR = successes ÷ non-ambiguous runs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• Error bars: ±2 SEM (≈95% CI)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• Scorer: automated LLM rubric (rubric v2)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  <a:latin typeface="Calibri"/>
              </a:rPr>
              <a:t>Results — Phase I: Baseline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CCD1D9"/>
                </a:solidFill>
                <a:latin typeface="Calibri"/>
              </a:rPr>
              <a:t>Llama 3.1 8B most vulnerable · Claude Sonnet 4.6 &amp; DeepSeek most robust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CCD1D9"/>
                </a:solidFill>
                <a:latin typeface="Calibri"/>
              </a:rPr>
              <a:t/>
            </a:r>
          </a:p>
        </p:txBody>
      </p:sp>
      <p:pic>
        <p:nvPicPr>
          <p:cNvPr id="7" name="Picture 6" descr="fig1_p1_asr_by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5760720" cy="2823076"/>
          </a:xfrm>
          <a:prstGeom prst="rect">
            <a:avLst/>
          </a:prstGeom>
        </p:spPr>
      </p:pic>
      <p:pic>
        <p:nvPicPr>
          <p:cNvPr id="8" name="Picture 7" descr="fig2_p1_asr_by_at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43000"/>
            <a:ext cx="5715000" cy="280067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5989320"/>
            <a:ext cx="11612880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0076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D1117"/>
                </a:solidFill>
                <a:latin typeface="Calibri"/>
              </a:rPr>
              <a:t>Key insight:  Health domain ASR (59.7%) &gt;&gt; Cooking (18.4%) — domain context is a strong vulnerability moderator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  <a:latin typeface="Calibri"/>
              </a:rPr>
              <a:t>Results — Phase IIB · IIC ·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CCD1D9"/>
                </a:solidFill>
                <a:latin typeface="Calibri"/>
              </a:rPr>
              <a:t>Multilingual &amp; adversarial attacks · Qwen family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CCD1D9"/>
                </a:solidFill>
                <a:latin typeface="Calibri"/>
              </a:rPr>
              <a:t/>
            </a:r>
          </a:p>
        </p:txBody>
      </p:sp>
      <p:pic>
        <p:nvPicPr>
          <p:cNvPr id="7" name="Picture 6" descr="fig4_p2b_asr_by_langu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3840480" cy="2063303"/>
          </a:xfrm>
          <a:prstGeom prst="rect">
            <a:avLst/>
          </a:prstGeom>
        </p:spPr>
      </p:pic>
      <p:pic>
        <p:nvPicPr>
          <p:cNvPr id="8" name="Picture 7" descr="fig6_p2c_asr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143000"/>
            <a:ext cx="3840480" cy="2102341"/>
          </a:xfrm>
          <a:prstGeom prst="rect">
            <a:avLst/>
          </a:prstGeom>
        </p:spPr>
      </p:pic>
      <p:pic>
        <p:nvPicPr>
          <p:cNvPr id="9" name="Picture 8" descr="fig14_p3_phase1_as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143000"/>
            <a:ext cx="3703320" cy="181483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5074920"/>
            <a:ext cx="3840480" cy="29260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5093208"/>
            <a:ext cx="3730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Calibri"/>
              </a:rPr>
              <a:t>IIB: Language switching ≠ bypass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5074920"/>
            <a:ext cx="3840480" cy="2926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5093208"/>
            <a:ext cx="3730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Calibri"/>
              </a:rPr>
              <a:t>IIC: LLM-generated payloads (n=15)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5074920"/>
            <a:ext cx="3703320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5093208"/>
            <a:ext cx="3593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Calibri"/>
              </a:rPr>
              <a:t>III: Qwen 9B → 35B, similar ASR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440680"/>
            <a:ext cx="11521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A1A2E"/>
                </a:solidFill>
                <a:latin typeface="Calibri"/>
              </a:rPr>
              <a:t>• Mandarin/Swahili/Welsh ASR (43–47%) not significantly higher than English baseline (43.2%)   • Llama-generated attacks: 33% overall ASR vs Claude (limited n=15)   • Qwen scaling: health-domain ASR rises 62% → 80% from 9B → 35B — larger ≠ safer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CCD1D9"/>
                </a:solidFill>
                <a:latin typeface="Calibri"/>
              </a:rPr>
              <a:t>Kelan Huang  ·  CS495 Capstone  ·  Bellevue College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C0392B"/>
                </a:solidFill>
                <a:latin typeface="Calibri"/>
              </a:rPr>
              <a:t>Limitations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Phase IIC: only 5 reps/attack — Naive 100% likely a small-sample artifact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Automated rubric may misclassify subtle responses (AMBIGUOUS category)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Static hand-crafted prompts; adaptive attacker could be more adversarial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LM Studio inference variability not fully controlled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188720"/>
            <a:ext cx="5760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27AE60"/>
                </a:solidFill>
                <a:latin typeface="Calibri"/>
              </a:rPr>
              <a:t>Next Steps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Phase IV: LoRA fine-tuning on Llama 3.1 8B to reduce vulnerability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Expand Phase IIC to ≥30 reps for statistical power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Gemma 4 dense (31B) vs Gemma 4 MoE (26B A4B) comparison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Dense vs MoE security trade-off across Alibaba Qwen &amp; Google Gemma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CCD1D9"/>
                </a:solidFill>
                <a:latin typeface="Calibri"/>
              </a:rPr>
              <a:t>What this research tells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CCD1D9"/>
                </a:solidFill>
                <a:latin typeface="Calibri"/>
              </a:rPr>
              <a:t>Kelan Huang  ·  CS495 Capstone  ·  Bellevue College  ·  Spring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457200" cy="81381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533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225296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  <a:latin typeface="Calibri"/>
              </a:rPr>
              <a:t>Model vulnerability spans 10–80% ASR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CCD1D9"/>
                </a:solidFill>
                <a:latin typeface="Calibri"/>
              </a:rPr>
              <a:t>Llama 3.1 8B (79.6%) most susceptible; Claude (10%) &amp; DeepSeek (12%) most robust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57400"/>
            <a:ext cx="457200" cy="81381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2219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093976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  <a:latin typeface="Calibri"/>
              </a:rPr>
              <a:t>Language switching ≠ bypass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441448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CCD1D9"/>
                </a:solidFill>
                <a:latin typeface="Calibri"/>
              </a:rPr>
              <a:t>Mandarin/Swahili/Welsh ASR comparable to English; no systematic amplification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926080"/>
            <a:ext cx="457200" cy="81381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0906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962656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  <a:latin typeface="Calibri"/>
              </a:rPr>
              <a:t>LLM-generated attacks fall short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10128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CCD1D9"/>
                </a:solidFill>
                <a:latin typeface="Calibri"/>
              </a:rPr>
              <a:t>Llama-generated payloads fail to systematically beat a strong defender (Claude)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794760"/>
            <a:ext cx="457200" cy="81381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9593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831336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  <a:latin typeface="Calibri"/>
              </a:rPr>
              <a:t>Domain context is a key moderator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178808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CCD1D9"/>
                </a:solidFill>
                <a:latin typeface="Calibri"/>
              </a:rPr>
              <a:t>Health agent: 59.7% ASR vs Cooking: 18.4% — same model, very different risk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663440"/>
            <a:ext cx="457200" cy="81381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8280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700016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  <a:latin typeface="Calibri"/>
              </a:rPr>
              <a:t>Larger Qwen ≠ safer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047488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CCD1D9"/>
                </a:solidFill>
                <a:latin typeface="Calibri"/>
              </a:rPr>
              <a:t>Qwen 35B health ASR (80%) exceeds 9B (62%) — scaling up can increase vulnerability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